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FE143-3B6C-324A-AED2-0799C1FFE0F4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2942E-93B5-4C4B-B934-522030CFC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30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2942E-93B5-4C4B-B934-522030CFCD1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1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CC6D1-7EA4-8F86-92F8-F38DD4BE17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42E3A-9A93-D2FB-2838-84947C5B6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16535-4AD3-CA2D-9921-9061F1BD8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FF467-701B-8E5E-43DB-90A74DA69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13F63C-D9C4-6923-0EB1-5D2E19005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41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8B117-C0B2-FFDB-6045-E6A481E38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45E1C-5F44-C913-B45C-BA6B53205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9345A-BA12-5671-602E-0F68B78F7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8427D-9262-BAC7-E881-118489196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425C5-B9D0-11DC-6305-F01BF2F7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653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FFAB7-129B-BB02-2EE2-2A84A73CA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92FA5-7B85-A4F0-E6E0-06E748C063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6BB40B-5287-8AAA-0026-2CA12961F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D2326-B70E-7EFD-F0E7-49F1374AF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B30D5-20C7-FBAD-FE35-D91FB9F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662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4F257-A506-CBF8-D975-9E92B1C8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CB4EB-D685-CA57-B8B4-C3CD3DEE1F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2C24BC-5F4A-05DF-D120-5125CE785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6C2E1-1D5A-77D0-7DEB-EF0ED4130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9CC383-B4A7-7D25-1B16-23F170886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A301E-B0B4-435B-7C73-861ACE834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14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E72E-0BC3-E19E-F926-F19E3715F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CF5805-1888-0C74-2395-562061360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71C7E-80AD-005C-7E4D-D48331470A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5ECC28-862D-3D10-BBF8-CEB9B397D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D8C6DF-C798-9F39-0CEA-22D8DFEFE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A96D5A-05F0-028E-22F9-7D6095DDC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FEC20-1CB9-1C86-0A95-1A4464104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92D9D0-B37F-E0F3-F2B8-AE96B911E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132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79B1-6D3C-F9B3-0212-159C2CA70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D7B61-D3C9-3B45-5CB8-48DE6384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F2D916-8447-3314-BCE2-2B6D95A26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8523E-6CBC-175B-BE7E-B93821A6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85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A98F36-DC1E-F4C6-1EF9-343FC41EA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73D8E6-05F1-6056-DB15-BDBD1224B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480DFA-5605-322A-D913-4E413AE3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6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58C4-6396-F4AE-CC48-49C0D6B3B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F4F3C-94F4-9144-C3B5-35D5DEBBB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B4CCF-CC98-9BAD-742D-616777B887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01176-72CA-15DF-4636-43F21182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BDDA0E-1469-3218-4C3C-0C1179C57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15C83-21E4-C15F-3326-AC4B1F4D2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245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74E74-A0D7-62F8-26D1-35E4327C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EA16C0-F179-D76A-2428-70C64A290C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D6A19-64A5-6866-EC1D-D824D2DBD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8B1FF-8559-CAAF-27E6-11E53210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C3694-2E29-1342-388E-4BC0C82F4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6DD96A-0B38-9513-E980-A19793989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7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52A7-12FE-907F-3D09-6EFC8043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DCC6C1-ADBC-71D9-48D6-892809DC34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8EFFB-850A-949F-CA0A-74F1D456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1B4EB9-0A2D-A1E1-725A-3F62C5A48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EF0C8-67DC-DD1F-224C-9C1D28C11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8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B62BE1-4842-AFE1-B8B4-1733442029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2F4D9-4A9F-8F59-422D-44EEE23CD9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1E089-9EEB-40AA-7232-D64A7E7CD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C7C27-A808-EA7D-2E6F-8C3BF4B64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59744-2E99-E966-3E55-86F927524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281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8DE413-E721-EA9D-3A5D-94838FF0A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FD797-C5E1-C581-9618-AD6EA5B2C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33217-4667-BFBB-A9DA-506C0B399B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E6497C-4714-EF4C-9944-7473E7DFF212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F6BF6-2A48-EA3B-FDBC-1AB4B648FA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4C381-E9E2-6396-F1BA-4219A9199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B1C0C-A785-9842-8950-5D6F1D94D3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0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tructure of molecules on a black background&#10;&#10;Description automatically generated">
            <a:extLst>
              <a:ext uri="{FF2B5EF4-FFF2-40B4-BE49-F238E27FC236}">
                <a16:creationId xmlns:a16="http://schemas.microsoft.com/office/drawing/2014/main" id="{E3DFBBE6-E434-7174-B2A7-16B5DD2685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969" t="17310" r="27833" b="21992"/>
          <a:stretch/>
        </p:blipFill>
        <p:spPr>
          <a:xfrm>
            <a:off x="323671" y="2147096"/>
            <a:ext cx="5772329" cy="4318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228436-37EF-25D0-DB94-670FCFC3C7DC}"/>
              </a:ext>
            </a:extLst>
          </p:cNvPr>
          <p:cNvSpPr txBox="1"/>
          <p:nvPr/>
        </p:nvSpPr>
        <p:spPr>
          <a:xfrm>
            <a:off x="240957" y="304865"/>
            <a:ext cx="7252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Perovskite structure (C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N)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PbTe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92152D-087A-24E8-8907-59E6B8D33D10}"/>
              </a:ext>
            </a:extLst>
          </p:cNvPr>
          <p:cNvSpPr txBox="1"/>
          <p:nvPr/>
        </p:nvSpPr>
        <p:spPr>
          <a:xfrm>
            <a:off x="409903" y="1553194"/>
            <a:ext cx="5423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2,2,1 supercell with direct band gap at Gamma point </a:t>
            </a:r>
          </a:p>
          <a:p>
            <a:r>
              <a:rPr lang="en-US" dirty="0"/>
              <a:t>(108-atom cell)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6ED4D-D8E3-83FE-B594-C6310A8DE610}"/>
              </a:ext>
            </a:extLst>
          </p:cNvPr>
          <p:cNvSpPr txBox="1"/>
          <p:nvPr/>
        </p:nvSpPr>
        <p:spPr>
          <a:xfrm>
            <a:off x="6968360" y="2147096"/>
            <a:ext cx="4907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Band gap convergence with PBE, def2-svp basis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A4BAC4-63DD-4FCB-E1DF-414464369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73558"/>
              </p:ext>
            </p:extLst>
          </p:nvPr>
        </p:nvGraphicFramePr>
        <p:xfrm>
          <a:off x="6968360" y="2975183"/>
          <a:ext cx="4211146" cy="3195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573">
                  <a:extLst>
                    <a:ext uri="{9D8B030D-6E8A-4147-A177-3AD203B41FA5}">
                      <a16:colId xmlns:a16="http://schemas.microsoft.com/office/drawing/2014/main" val="820656218"/>
                    </a:ext>
                  </a:extLst>
                </a:gridCol>
                <a:gridCol w="2105573">
                  <a:extLst>
                    <a:ext uri="{9D8B030D-6E8A-4147-A177-3AD203B41FA5}">
                      <a16:colId xmlns:a16="http://schemas.microsoft.com/office/drawing/2014/main" val="1549058744"/>
                    </a:ext>
                  </a:extLst>
                </a:gridCol>
              </a:tblGrid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kmesh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Band gap (eV)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055035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177969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92411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699289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3,2,2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784564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2.365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7198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086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tructure of molecules on a black background&#10;&#10;Description automatically generated">
            <a:extLst>
              <a:ext uri="{FF2B5EF4-FFF2-40B4-BE49-F238E27FC236}">
                <a16:creationId xmlns:a16="http://schemas.microsoft.com/office/drawing/2014/main" id="{E9B7C327-4A39-4B10-BEB1-92656C1C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969" t="17310" r="27833" b="21992"/>
          <a:stretch/>
        </p:blipFill>
        <p:spPr>
          <a:xfrm>
            <a:off x="323671" y="2199525"/>
            <a:ext cx="5772329" cy="4318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C278CA-A4DB-8FC3-3AC3-440EC65ADB02}"/>
              </a:ext>
            </a:extLst>
          </p:cNvPr>
          <p:cNvSpPr txBox="1"/>
          <p:nvPr/>
        </p:nvSpPr>
        <p:spPr>
          <a:xfrm>
            <a:off x="240957" y="304865"/>
            <a:ext cx="72529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Perovskite structure (C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N)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PbTe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Cl</a:t>
            </a:r>
            <a:r>
              <a:rPr lang="en-US" sz="3200" baseline="-25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957B39-9434-A6DB-28F0-D07CDEB1B218}"/>
              </a:ext>
            </a:extLst>
          </p:cNvPr>
          <p:cNvSpPr txBox="1"/>
          <p:nvPr/>
        </p:nvSpPr>
        <p:spPr>
          <a:xfrm>
            <a:off x="409903" y="1553194"/>
            <a:ext cx="5423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2,2,1 supercell with direct band gap at Gamma point </a:t>
            </a:r>
          </a:p>
          <a:p>
            <a:r>
              <a:rPr lang="en-US" dirty="0"/>
              <a:t>(108-atom cell)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7BA66-21FA-9904-FC44-06F66A6DB6BF}"/>
              </a:ext>
            </a:extLst>
          </p:cNvPr>
          <p:cNvSpPr txBox="1"/>
          <p:nvPr/>
        </p:nvSpPr>
        <p:spPr>
          <a:xfrm>
            <a:off x="6988896" y="1378308"/>
            <a:ext cx="4928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Band gap convergence with HSE, def2-svp basis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E666C57-C185-265E-A864-E6336DA0F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848463"/>
              </p:ext>
            </p:extLst>
          </p:nvPr>
        </p:nvGraphicFramePr>
        <p:xfrm>
          <a:off x="7347716" y="1876359"/>
          <a:ext cx="4211146" cy="2130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573">
                  <a:extLst>
                    <a:ext uri="{9D8B030D-6E8A-4147-A177-3AD203B41FA5}">
                      <a16:colId xmlns:a16="http://schemas.microsoft.com/office/drawing/2014/main" val="820656218"/>
                    </a:ext>
                  </a:extLst>
                </a:gridCol>
                <a:gridCol w="2105573">
                  <a:extLst>
                    <a:ext uri="{9D8B030D-6E8A-4147-A177-3AD203B41FA5}">
                      <a16:colId xmlns:a16="http://schemas.microsoft.com/office/drawing/2014/main" val="1549058744"/>
                    </a:ext>
                  </a:extLst>
                </a:gridCol>
              </a:tblGrid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kmesh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Band gap (eV)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055035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177969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92411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5,1,4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92267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347E088-B0AA-AF3B-51C5-10BE128B35B2}"/>
              </a:ext>
            </a:extLst>
          </p:cNvPr>
          <p:cNvSpPr txBox="1"/>
          <p:nvPr/>
        </p:nvSpPr>
        <p:spPr>
          <a:xfrm>
            <a:off x="6815959" y="4174291"/>
            <a:ext cx="4994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Band gap convergence with HSE, def2-tzvp basis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E492BD5-C1F2-A9F2-F90F-1960531E4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302526"/>
              </p:ext>
            </p:extLst>
          </p:nvPr>
        </p:nvGraphicFramePr>
        <p:xfrm>
          <a:off x="7347716" y="4727386"/>
          <a:ext cx="4211146" cy="15976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573">
                  <a:extLst>
                    <a:ext uri="{9D8B030D-6E8A-4147-A177-3AD203B41FA5}">
                      <a16:colId xmlns:a16="http://schemas.microsoft.com/office/drawing/2014/main" val="820656218"/>
                    </a:ext>
                  </a:extLst>
                </a:gridCol>
                <a:gridCol w="2105573">
                  <a:extLst>
                    <a:ext uri="{9D8B030D-6E8A-4147-A177-3AD203B41FA5}">
                      <a16:colId xmlns:a16="http://schemas.microsoft.com/office/drawing/2014/main" val="1549058744"/>
                    </a:ext>
                  </a:extLst>
                </a:gridCol>
              </a:tblGrid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kmesh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Band gap (eV)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055035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3.319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6177969"/>
                  </a:ext>
                </a:extLst>
              </a:tr>
              <a:tr h="53253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3.276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39924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726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1031</TotalTime>
  <Words>101</Words>
  <Application>Microsoft Macintosh PowerPoint</Application>
  <PresentationFormat>Widescreen</PresentationFormat>
  <Paragraphs>36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Dinh, Hieu</dc:creator>
  <cp:lastModifiedBy>Dinh, Hieu</cp:lastModifiedBy>
  <cp:revision>21</cp:revision>
  <dcterms:created xsi:type="dcterms:W3CDTF">2026-10-29T00:28:56Z</dcterms:created>
  <dcterms:modified xsi:type="dcterms:W3CDTF">2026-10-29T17:51:38Z</dcterms:modified>
</cp:coreProperties>
</file>